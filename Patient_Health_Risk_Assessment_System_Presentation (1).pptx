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94360"/>
            <a:ext cx="1005840" cy="100584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417320"/>
            <a:ext cx="502920" cy="502920"/>
          </a:xfrm>
          <a:prstGeom prst="ellipse">
            <a:avLst/>
          </a:prstGeom>
          <a:solidFill>
            <a:srgbClr val="23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806440"/>
            <a:ext cx="640080" cy="64008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241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PATIENT HEALTH RISK</a:t>
            </a:r>
            <a:br/>
            <a:r>
              <a:t>ASSESSMENT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889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E0E8"/>
                </a:solidFill>
              </a:defRPr>
            </a:pPr>
            <a:r>
              <a:t>Machine Learning Based Health-Risk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8961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97A7"/>
                </a:solidFill>
              </a:defRPr>
            </a:pPr>
            <a:r>
              <a:t>Project Team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2520030233-K. Akshitha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2520030245-T. Meghana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2520030235-Sreekara Karthik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8978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Machine Learning | Academic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What the system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4173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6362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Use patient medical and lifestyle parameters to classify a patient into a possible Low, Medium, or High health-risk category.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1417320"/>
          </a:xfrm>
          <a:prstGeom prst="rect">
            <a:avLst/>
          </a:prstGeom>
          <a:solidFill>
            <a:srgbClr val="23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56362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947672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Manual analysis of many patient parameters can be time-consuming. Machine Learning can learn patterns from historical data and support risk assessment.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154680"/>
            <a:ext cx="10972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154680"/>
            <a:ext cx="73152" cy="1234440"/>
          </a:xfrm>
          <a:prstGeom prst="rect">
            <a:avLst/>
          </a:prstGeom>
          <a:solidFill>
            <a:srgbClr val="2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300984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685032"/>
            <a:ext cx="10652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Data → Cleaning → Encoding → EDA → Train/Test Split → ML Models → Evaluation → New Patient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D3A"/>
                </a:solidFill>
                <a:latin typeface="Aptos"/>
              </a:defRPr>
            </a:pPr>
            <a:r>
              <a:t>• Academic decision-support prototype</a:t>
            </a:r>
          </a:p>
          <a:p>
            <a:pPr>
              <a:spcAft>
                <a:spcPts val="900"/>
              </a:spcAft>
              <a:defRPr sz="1700">
                <a:solidFill>
                  <a:srgbClr val="202D3A"/>
                </a:solidFill>
                <a:latin typeface="Aptos"/>
              </a:defRPr>
            </a:pPr>
            <a:r>
              <a:t>• Not a replacement for professional medical diagnosis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2. Dataset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Patient attributes used for prediction</a:t>
            </a:r>
          </a:p>
        </p:txBody>
      </p:sp>
      <p:pic>
        <p:nvPicPr>
          <p:cNvPr id="6" name="Picture 5" descr="409d0166-fddc-42c3-9e25-4235fa6dd1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31" y="1325880"/>
            <a:ext cx="6491178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138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7380"/>
                </a:solidFill>
              </a:defRPr>
            </a:pPr>
            <a:r>
              <a:t>Patient dataset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417320"/>
            <a:ext cx="73152" cy="10972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5636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94767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20 records before cleaning</a:t>
            </a:r>
            <a:br/>
            <a:r>
              <a:t>9 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743200"/>
            <a:ext cx="73152" cy="1508760"/>
          </a:xfrm>
          <a:prstGeom prst="rect">
            <a:avLst/>
          </a:prstGeom>
          <a:solidFill>
            <a:srgbClr val="23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889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8 Input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273552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Age, Gender, Blood Pressure, Blood Glucose, BMI, Cholesterol, Smoking, Physical 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52628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526280"/>
            <a:ext cx="73152" cy="960120"/>
          </a:xfrm>
          <a:prstGeom prst="rect">
            <a:avLst/>
          </a:prstGeom>
          <a:solidFill>
            <a:srgbClr val="2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6725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50566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Health Risk → Low / Medium / 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3. Data Cleaning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Preparing reliable data for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5087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6362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Before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20 records</a:t>
            </a:r>
            <a:br/>
            <a:r>
              <a:t>5 missing values</a:t>
            </a:r>
            <a:br/>
            <a:r>
              <a:t>4 duplicate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508760"/>
          </a:xfrm>
          <a:prstGeom prst="rect">
            <a:avLst/>
          </a:prstGeom>
          <a:solidFill>
            <a:srgbClr val="23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6362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4767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Remove duplicate rows</a:t>
            </a:r>
            <a:br/>
            <a:r>
              <a:t>Numerical missing values → median</a:t>
            </a:r>
            <a:br/>
            <a:r>
              <a:t>Categorical missing values →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417320"/>
            <a:ext cx="73152" cy="1508760"/>
          </a:xfrm>
          <a:prstGeom prst="rect">
            <a:avLst/>
          </a:prstGeom>
          <a:solidFill>
            <a:srgbClr val="2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56362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After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94767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16 unique records</a:t>
            </a:r>
            <a:br/>
            <a:r>
              <a:t>0 missing values</a:t>
            </a:r>
            <a:br/>
            <a:r>
              <a:t>0 duplicate rows</a:t>
            </a:r>
          </a:p>
        </p:txBody>
      </p:sp>
      <p:pic>
        <p:nvPicPr>
          <p:cNvPr id="18" name="Picture 17" descr="d45a8d6a-0170-4b9c-99d3-266e6337ad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378" y="3246120"/>
            <a:ext cx="5333644" cy="2468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5422392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7380"/>
                </a:solidFill>
              </a:defRPr>
            </a:pPr>
            <a:r>
              <a:t>Cleaned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4290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2D3A"/>
                </a:solidFill>
                <a:latin typeface="Aptos"/>
              </a:defRPr>
            </a:pPr>
            <a:r>
              <a:t>• LabelEncoder converts categorical text into numerical values.</a:t>
            </a:r>
          </a:p>
          <a:p>
            <a:pPr>
              <a:spcAft>
                <a:spcPts val="900"/>
              </a:spcAft>
              <a:defRPr sz="1500">
                <a:solidFill>
                  <a:srgbClr val="202D3A"/>
                </a:solidFill>
                <a:latin typeface="Aptos"/>
              </a:defRPr>
            </a:pPr>
            <a:r>
              <a:t>• Example: Gender, Smoking, Physical Activity and Health Risk are encoded before model training.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4.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Visualizing patterns and relationships in the data</a:t>
            </a:r>
          </a:p>
        </p:txBody>
      </p:sp>
      <p:pic>
        <p:nvPicPr>
          <p:cNvPr id="6" name="Picture 5" descr="ef8f6383-e093-42f2-b028-68212159936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09" y="1325880"/>
            <a:ext cx="3320021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2735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7380"/>
                </a:solidFill>
              </a:defRPr>
            </a:pPr>
            <a:r>
              <a:t>Health Risk Distribution</a:t>
            </a:r>
          </a:p>
        </p:txBody>
      </p:sp>
      <p:pic>
        <p:nvPicPr>
          <p:cNvPr id="8" name="Picture 7" descr="638f1cb3-4e9e-45d3-b486-3fb3d66147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58" y="1325880"/>
            <a:ext cx="3447779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70248" y="32735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7380"/>
                </a:solidFill>
              </a:defRPr>
            </a:pPr>
            <a:r>
              <a:t>Age Distribution</a:t>
            </a:r>
          </a:p>
        </p:txBody>
      </p:sp>
      <p:pic>
        <p:nvPicPr>
          <p:cNvPr id="10" name="Picture 9" descr="ec01f553-9177-4149-ab78-47f16eb7a2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630" y="1325880"/>
            <a:ext cx="3099201" cy="2240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28431" y="32735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7380"/>
                </a:solidFill>
              </a:defRPr>
            </a:pPr>
            <a:r>
              <a:t>Correlation Heatmap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10789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02D3A"/>
                </a:solidFill>
                <a:latin typeface="Aptos"/>
              </a:defRPr>
            </a:pPr>
            <a:r>
              <a:t>• Distribution plots show how patient ages and risk categories are spread.</a:t>
            </a:r>
          </a:p>
          <a:p>
            <a:pPr>
              <a:spcAft>
                <a:spcPts val="900"/>
              </a:spcAft>
              <a:defRPr sz="1600">
                <a:solidFill>
                  <a:srgbClr val="202D3A"/>
                </a:solidFill>
                <a:latin typeface="Aptos"/>
              </a:defRPr>
            </a:pPr>
            <a:r>
              <a:t>• Boxplots compare BMI and Blood Pressure across health-risk categories.</a:t>
            </a:r>
          </a:p>
          <a:p>
            <a:pPr>
              <a:spcAft>
                <a:spcPts val="900"/>
              </a:spcAft>
              <a:defRPr sz="1600">
                <a:solidFill>
                  <a:srgbClr val="202D3A"/>
                </a:solidFill>
                <a:latin typeface="Aptos"/>
              </a:defRPr>
            </a:pPr>
            <a:r>
              <a:t>• The correlation heatmap summarizes relationships between numerical variables.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5. BMI &amp; Blood Pressure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Comparing important health parameters with risk categories</a:t>
            </a:r>
          </a:p>
        </p:txBody>
      </p:sp>
      <p:pic>
        <p:nvPicPr>
          <p:cNvPr id="6" name="Picture 5" descr="d9066ff1-a8e8-4d48-9a79-4ac62047a76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2859"/>
            <a:ext cx="5303520" cy="35065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19379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7380"/>
                </a:solidFill>
              </a:defRPr>
            </a:pPr>
            <a:r>
              <a:t>BMI vs Health Risk</a:t>
            </a:r>
          </a:p>
        </p:txBody>
      </p:sp>
      <p:pic>
        <p:nvPicPr>
          <p:cNvPr id="8" name="Picture 7" descr="98c1c988-92e9-45c8-ab2a-7eff7f0a94b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51371"/>
            <a:ext cx="5303520" cy="31095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19379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7380"/>
                </a:solidFill>
              </a:defRPr>
            </a:pPr>
            <a:r>
              <a:t>Blood Pressure vs Health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6. Machine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Three classification algorithms are compared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6362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Classification model that learns a mathematical relationship between features and risk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23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Uses a sequence of decision rules to reach a final health-risk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4767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Combines multiple Decision Trees. In our implementation, 100 trees are used.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D3A"/>
                </a:solidFill>
                <a:latin typeface="Aptos"/>
              </a:defRPr>
            </a:pPr>
            <a:r>
              <a:t>• Why three models? To compare different classification approaches on the same patient dataset.</a:t>
            </a:r>
          </a:p>
          <a:p>
            <a:pPr>
              <a:spcAft>
                <a:spcPts val="900"/>
              </a:spcAft>
              <a:defRPr sz="1700">
                <a:solidFill>
                  <a:srgbClr val="202D3A"/>
                </a:solidFill>
                <a:latin typeface="Aptos"/>
              </a:defRPr>
            </a:pPr>
            <a:r>
              <a:t>• Training data is used to learn patterns; testing data is used to evaluate unseen examples.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7.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Measuring prediction performance</a:t>
            </a:r>
          </a:p>
        </p:txBody>
      </p:sp>
      <p:pic>
        <p:nvPicPr>
          <p:cNvPr id="6" name="Picture 5" descr="f4c6c773-6944-4827-b588-7a84e3875db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0298"/>
            <a:ext cx="6126480" cy="32344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4416552"/>
            <a:ext cx="6126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7380"/>
                </a:solidFill>
              </a:defRPr>
            </a:pPr>
            <a:r>
              <a:t>Model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508760"/>
            <a:ext cx="4297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1508760"/>
            <a:ext cx="73152" cy="1188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87768" y="1655063"/>
            <a:ext cx="3977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Evaluation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2039112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Accuracy • Precision • Recall • F1-score • Confusion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063240"/>
            <a:ext cx="4297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063240"/>
            <a:ext cx="73152" cy="1691640"/>
          </a:xfrm>
          <a:prstGeom prst="rect">
            <a:avLst/>
          </a:prstGeom>
          <a:solidFill>
            <a:srgbClr val="23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3209544"/>
            <a:ext cx="3977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Current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3593592"/>
            <a:ext cx="3977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On the current small test split, all three models achieved 50% accuracy. This is a project demonstration result and is not sufficient for real-world clinical 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8. New Patient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Using the trained model for a new patient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Age, Gender, Blood Pressure, Blood Glucose, BMI, Cholesterol, Smoking, Physical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1508760"/>
          </a:xfrm>
          <a:prstGeom prst="rect">
            <a:avLst/>
          </a:prstGeom>
          <a:solidFill>
            <a:srgbClr val="23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56362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476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The trained classifier processes the new patient features and returns a predicted risk category: Low, Medium, or High.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1783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1D34"/>
                </a:solidFill>
              </a:defRPr>
            </a:pPr>
            <a:r>
              <a:t>Patient Data</a:t>
            </a:r>
          </a:p>
        </p:txBody>
      </p:sp>
      <p:sp>
        <p:nvSpPr>
          <p:cNvPr id="15" name="Chevron 14"/>
          <p:cNvSpPr/>
          <p:nvPr/>
        </p:nvSpPr>
        <p:spPr>
          <a:xfrm>
            <a:off x="2560320" y="3822191"/>
            <a:ext cx="384048" cy="411480"/>
          </a:xfrm>
          <a:prstGeom prst="chevron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71800" y="3657600"/>
            <a:ext cx="1783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1D34"/>
                </a:solidFill>
              </a:defRPr>
            </a:pPr>
            <a:r>
              <a:t>Encoding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4846320" y="3822191"/>
            <a:ext cx="384048" cy="411480"/>
          </a:xfrm>
          <a:prstGeom prst="chevron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57800" y="3657600"/>
            <a:ext cx="1783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1D34"/>
                </a:solidFill>
              </a:defRPr>
            </a:pPr>
            <a:r>
              <a:t>Trained Model</a:t>
            </a:r>
          </a:p>
        </p:txBody>
      </p:sp>
      <p:sp>
        <p:nvSpPr>
          <p:cNvPr id="19" name="Chevron 18"/>
          <p:cNvSpPr/>
          <p:nvPr/>
        </p:nvSpPr>
        <p:spPr>
          <a:xfrm>
            <a:off x="7132320" y="3822191"/>
            <a:ext cx="384048" cy="411480"/>
          </a:xfrm>
          <a:prstGeom prst="chevron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43800" y="3657600"/>
            <a:ext cx="1783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1D34"/>
                </a:solidFill>
              </a:defRPr>
            </a:pPr>
            <a:r>
              <a:t>Risk Category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10515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92040"/>
            <a:ext cx="73152" cy="777240"/>
          </a:xfrm>
          <a:prstGeom prst="rect">
            <a:avLst/>
          </a:prstGeom>
          <a:solidFill>
            <a:srgbClr val="2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5038344"/>
            <a:ext cx="10195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Model Saving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422392"/>
            <a:ext cx="10195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The Random Forest model is saved using Joblib so it can be reused later.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D34"/>
                </a:solidFill>
                <a:latin typeface="Aptos Display"/>
              </a:defRPr>
            </a:pPr>
            <a:r>
              <a:t>9. 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0"/>
                </a:solidFill>
                <a:latin typeface="Aptos"/>
              </a:defRPr>
            </a:pPr>
            <a:r>
              <a:t>Summary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1828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1790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The project demonstrates the complete Machine Learning workflow: data cleaning, preprocessing, visualization, classification, evaluation and health-risk 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1828800"/>
          </a:xfrm>
          <a:prstGeom prst="rect">
            <a:avLst/>
          </a:prstGeom>
          <a:solidFill>
            <a:srgbClr val="23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1790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D34"/>
                </a:solidFill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01952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</a:defRPr>
            </a:pPr>
            <a:r>
              <a:t>Use a much larger and more diverse dataset, improve model validation, test additional algorithms, and develop a user-friendly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D3A"/>
                </a:solidFill>
                <a:latin typeface="Aptos"/>
              </a:defRPr>
            </a:pPr>
            <a:r>
              <a:t>• The system is an academic decision-support prototype.</a:t>
            </a:r>
          </a:p>
          <a:p>
            <a:pPr>
              <a:spcAft>
                <a:spcPts val="900"/>
              </a:spcAft>
              <a:defRPr sz="1700">
                <a:solidFill>
                  <a:srgbClr val="202D3A"/>
                </a:solidFill>
                <a:latin typeface="Aptos"/>
              </a:defRPr>
            </a:pPr>
            <a:r>
              <a:t>• Predictions should not be treated as medical diagnosis.</a:t>
            </a:r>
          </a:p>
          <a:p>
            <a:pPr>
              <a:spcAft>
                <a:spcPts val="900"/>
              </a:spcAft>
              <a:defRPr sz="1700">
                <a:solidFill>
                  <a:srgbClr val="202D3A"/>
                </a:solidFill>
                <a:latin typeface="Aptos"/>
              </a:defRPr>
            </a:pPr>
            <a:r>
              <a:t>• Larger real-world datasets are needed for reliable generalization.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5321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C1D34"/>
                </a:solidFill>
              </a:defRPr>
            </a:pPr>
            <a:r>
              <a:t>Thank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380"/>
                </a:solidFill>
              </a:defRPr>
            </a:pPr>
            <a:r>
              <a:t>Patient Health Risk Assessment System  | 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